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7" r:id="rId2"/>
    <p:sldId id="258" r:id="rId3"/>
    <p:sldId id="262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Wingdings 3" panose="05040102010807070707" pitchFamily="18" charset="2"/>
      <p:regular r:id="rId9"/>
    </p:embeddedFon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Roboto" panose="020B0604020202020204" charset="0"/>
      <p:regular r:id="rId14"/>
      <p:bold r:id="rId15"/>
      <p:italic r:id="rId16"/>
      <p:boldItalic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30" d="100"/>
          <a:sy n="130" d="100"/>
        </p:scale>
        <p:origin x="77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16987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2fd82107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2fd82107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893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2fd8210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2fd8210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133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2fd82107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2fd82107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914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2fd82107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2fd82107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741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2fd8210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2fd8210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537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2703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867922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019685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2400747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025771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9240600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71189064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673364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2047802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350900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819437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55806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774456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136321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3961110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9129355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28244786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58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733341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452000" y="566749"/>
            <a:ext cx="7837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81000" algn="l" rtl="0">
              <a:lnSpc>
                <a:spcPct val="121875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AutoNum type="arabicPeriod"/>
            </a:pPr>
            <a:r>
              <a:rPr lang="ru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Заголовок и тема проекта</a:t>
            </a:r>
            <a:r>
              <a:rPr lang="ru" sz="2400" b="1">
                <a:latin typeface="Verdana"/>
                <a:ea typeface="Verdana"/>
                <a:cs typeface="Verdana"/>
                <a:sym typeface="Verdana"/>
              </a:rPr>
              <a:t>:</a:t>
            </a:r>
            <a:endParaRPr sz="2400" b="1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100069" y="1985723"/>
            <a:ext cx="5321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b="1" dirty="0">
                <a:solidFill>
                  <a:schemeClr val="dk1"/>
                </a:solidFill>
                <a:latin typeface="+mj-lt"/>
                <a:ea typeface="Century Gothic"/>
                <a:cs typeface="Century Gothic"/>
                <a:sym typeface="Century Gothic"/>
              </a:rPr>
              <a:t>CareerAI: Веб-сервис для генерации структурированных резюме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452000" y="566749"/>
            <a:ext cx="7837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Краткое описание проекта:</a:t>
            </a:r>
            <a:br>
              <a:rPr lang="ru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52000" y="1408675"/>
            <a:ext cx="53217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/>
            </a:r>
            <a:b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r>
              <a:rPr lang="ru" b="1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Проект</a:t>
            </a:r>
            <a:r>
              <a:rPr lang="ru" b="1" dirty="0" smtClean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: </a:t>
            </a:r>
            <a:r>
              <a:rPr lang="ru" dirty="0" smtClean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 Веб-сервис</a:t>
            </a:r>
            <a:r>
              <a:rPr lang="ru" b="1" dirty="0" smtClean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помогает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соискателям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создавать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эффективные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резюме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которые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легко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адаптируются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под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требования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работодателей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/>
            </a:r>
            <a:br>
              <a:rPr lang="ru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</a:br>
            <a:endParaRPr dirty="0">
              <a:solidFill>
                <a:schemeClr val="dk1"/>
              </a:solidFill>
              <a:latin typeface="Arial" panose="020B0604020202020204" pitchFamily="34" charset="0"/>
              <a:ea typeface="Century Gothic"/>
              <a:cs typeface="Arial" panose="020B0604020202020204" pitchFamily="34" charset="0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Цель:</a:t>
            </a:r>
            <a:r>
              <a:rPr lang="ru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 Упростить </a:t>
            </a:r>
            <a:r>
              <a:rPr lang="ru" dirty="0" smtClean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процесс создания резюме для соискателей</a:t>
            </a:r>
            <a:r>
              <a:rPr lang="ru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/>
            </a:r>
            <a:br>
              <a:rPr lang="ru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</a:br>
            <a:endParaRPr dirty="0">
              <a:solidFill>
                <a:schemeClr val="dk1"/>
              </a:solidFill>
              <a:latin typeface="Arial" panose="020B0604020202020204" pitchFamily="34" charset="0"/>
              <a:ea typeface="Century Gothic"/>
              <a:cs typeface="Arial" panose="020B0604020202020204" pitchFamily="34" charset="0"/>
              <a:sym typeface="Century Gothic"/>
            </a:endParaRPr>
          </a:p>
          <a:p>
            <a:pPr lvl="0"/>
            <a:r>
              <a:rPr lang="ru" b="1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Аудитория:</a:t>
            </a:r>
            <a:r>
              <a:rPr lang="ru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 </a:t>
            </a:r>
            <a:r>
              <a:rPr lang="ru-RU" dirty="0" smtClean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Студенты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, </a:t>
            </a:r>
            <a:r>
              <a:rPr lang="ru-RU" dirty="0" smtClean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выпускники, специалисты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ea typeface="Century Gothic"/>
                <a:cs typeface="Arial" panose="020B0604020202020204" pitchFamily="34" charset="0"/>
                <a:sym typeface="Century Gothic"/>
              </a:rPr>
              <a:t>, меняющие сферу.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8254" y="-47227"/>
            <a:ext cx="8520600" cy="841800"/>
          </a:xfrm>
        </p:spPr>
        <p:txBody>
          <a:bodyPr/>
          <a:lstStyle/>
          <a:p>
            <a:r>
              <a:rPr lang="ru-RU" sz="1400" dirty="0" smtClean="0"/>
              <a:t>Похожие</a:t>
            </a:r>
            <a:r>
              <a:rPr lang="ru-RU" dirty="0" smtClean="0"/>
              <a:t> </a:t>
            </a:r>
            <a:r>
              <a:rPr lang="ru-RU" sz="1400" dirty="0" smtClean="0"/>
              <a:t>кейсы</a:t>
            </a:r>
            <a:endParaRPr lang="ru-RU" sz="1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26842" y="702915"/>
            <a:ext cx="746173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dirty="0" smtClean="0"/>
              <a:t>Кей</a:t>
            </a:r>
            <a:r>
              <a:rPr lang="en-US" dirty="0"/>
              <a:t>c: </a:t>
            </a:r>
            <a:r>
              <a:rPr lang="ru-RU" dirty="0" smtClean="0"/>
              <a:t>«Чат‑бот </a:t>
            </a:r>
            <a:r>
              <a:rPr lang="ru-RU" dirty="0"/>
              <a:t>в </a:t>
            </a:r>
            <a:r>
              <a:rPr lang="en-US" dirty="0" smtClean="0"/>
              <a:t>e‑commerce</a:t>
            </a:r>
            <a:r>
              <a:rPr lang="ru-RU" dirty="0" smtClean="0"/>
              <a:t>».</a:t>
            </a:r>
          </a:p>
          <a:p>
            <a:r>
              <a:rPr lang="ru-RU" dirty="0" smtClean="0"/>
              <a:t>• </a:t>
            </a:r>
            <a:r>
              <a:rPr lang="ru-RU" dirty="0"/>
              <a:t>Рост конверсии: +23%• Сокращение времени решения проблем: –18%• Успешное решение запросов: 71%Контекст: сайты, которые внедрили ИИ‑чат‑ботов, получили значительное увеличение конверсии и улучшение качества поддержки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2</a:t>
            </a:r>
            <a:r>
              <a:rPr lang="ru-RU" dirty="0"/>
              <a:t>) Кей</a:t>
            </a:r>
            <a:r>
              <a:rPr lang="en-US" dirty="0"/>
              <a:t>c: </a:t>
            </a:r>
            <a:r>
              <a:rPr lang="ru-RU" dirty="0" smtClean="0"/>
              <a:t>«</a:t>
            </a:r>
            <a:r>
              <a:rPr lang="en-US" dirty="0" smtClean="0"/>
              <a:t>AI‑</a:t>
            </a:r>
            <a:r>
              <a:rPr lang="ru-RU" dirty="0"/>
              <a:t>резюме </a:t>
            </a:r>
            <a:r>
              <a:rPr lang="ru-RU" dirty="0" err="1" smtClean="0"/>
              <a:t>билдер</a:t>
            </a:r>
            <a:r>
              <a:rPr lang="ru-RU" dirty="0" smtClean="0"/>
              <a:t>».</a:t>
            </a:r>
          </a:p>
          <a:p>
            <a:r>
              <a:rPr lang="ru-RU" dirty="0" smtClean="0"/>
              <a:t>• </a:t>
            </a:r>
            <a:r>
              <a:rPr lang="ru-RU" dirty="0"/>
              <a:t>Рост приглашаемых на интервью: +40%Контекст: Использование </a:t>
            </a:r>
            <a:r>
              <a:rPr lang="en-US" dirty="0"/>
              <a:t>AI‑</a:t>
            </a:r>
            <a:r>
              <a:rPr lang="ru-RU" dirty="0"/>
              <a:t>инструментов для создания/оптимизации резюме улучшает результаты поиска работы.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169" y="2831855"/>
            <a:ext cx="3241438" cy="202589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762859"/>
            <a:ext cx="2596668" cy="21638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922592" y="3109432"/>
            <a:ext cx="17877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800" dirty="0"/>
              <a:t>Кей</a:t>
            </a:r>
            <a:r>
              <a:rPr lang="en-US" sz="800" dirty="0"/>
              <a:t>c: «AI‑</a:t>
            </a:r>
            <a:r>
              <a:rPr lang="ru-RU" sz="800" dirty="0"/>
              <a:t>резюме </a:t>
            </a:r>
            <a:r>
              <a:rPr lang="ru-RU" sz="800" dirty="0" err="1"/>
              <a:t>билдер</a:t>
            </a:r>
            <a:r>
              <a:rPr lang="ru-RU" sz="800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419579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2521123" y="566749"/>
            <a:ext cx="7837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3. Метрики и ожидаемые эффекты:</a:t>
            </a:r>
            <a:endParaRPr b="1" dirty="0">
              <a:solidFill>
                <a:schemeClr val="dk1"/>
              </a:solidFill>
              <a:latin typeface="+mj-lt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75492" y="1496598"/>
            <a:ext cx="8663354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Конверсия на этапе </a:t>
            </a:r>
            <a:r>
              <a:rPr lang="ru" sz="1200" dirty="0" smtClean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регистрации:  </a:t>
            </a:r>
            <a:r>
              <a:rPr lang="ru-RU" sz="1200" dirty="0" smtClean="0"/>
              <a:t>14‑15</a:t>
            </a:r>
            <a:r>
              <a:rPr lang="ru-RU" sz="1200" dirty="0"/>
              <a:t>% (рост ~40‑50</a:t>
            </a:r>
            <a:r>
              <a:rPr lang="ru-RU" sz="1200" dirty="0" smtClean="0"/>
              <a:t>%).</a:t>
            </a:r>
          </a:p>
          <a:p>
            <a:pPr marL="457200" lvl="0" indent="-304800">
              <a:buClr>
                <a:schemeClr val="dk1"/>
              </a:buClr>
              <a:buSzPts val="1200"/>
              <a:buFont typeface="Century Gothic"/>
              <a:buChar char="●"/>
            </a:pP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Количество заявок в </a:t>
            </a:r>
            <a:r>
              <a:rPr lang="ru" sz="1200" dirty="0" smtClean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месяц: </a:t>
            </a:r>
            <a:r>
              <a:rPr lang="ru-RU" sz="1200" dirty="0"/>
              <a:t>С </a:t>
            </a:r>
            <a:r>
              <a:rPr lang="ru-RU" sz="1200" b="1" dirty="0"/>
              <a:t>Career.AI</a:t>
            </a:r>
            <a:r>
              <a:rPr lang="ru-RU" sz="1200" dirty="0"/>
              <a:t> мы ожидаем </a:t>
            </a:r>
            <a:r>
              <a:rPr lang="ru-RU" sz="1200" b="1" dirty="0"/>
              <a:t>140 заявок</a:t>
            </a:r>
            <a:r>
              <a:rPr lang="ru-RU" sz="1200" dirty="0"/>
              <a:t> в месяц, что </a:t>
            </a:r>
            <a:r>
              <a:rPr lang="ru-RU" sz="1200" b="1" dirty="0"/>
              <a:t>на 40% больше</a:t>
            </a:r>
            <a:r>
              <a:rPr lang="ru-RU" sz="1200" dirty="0"/>
              <a:t>, чем при использовании традиционного метода</a:t>
            </a:r>
            <a:r>
              <a:rPr lang="ru-RU" sz="1200" dirty="0" smtClean="0"/>
              <a:t>.</a:t>
            </a:r>
          </a:p>
          <a:p>
            <a:pPr marL="457200" lvl="0" indent="-304800">
              <a:buClr>
                <a:schemeClr val="dk1"/>
              </a:buClr>
              <a:buSzPts val="1200"/>
              <a:buFont typeface="Century Gothic"/>
              <a:buChar char="●"/>
            </a:pP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indent="-304800"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Основные каналы </a:t>
            </a:r>
            <a:r>
              <a:rPr lang="ru" sz="1200" dirty="0" smtClean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привлечения: сайт:</a:t>
            </a:r>
            <a:r>
              <a:rPr lang="ru-RU" sz="1200" dirty="0"/>
              <a:t>https://69136cef2dde151971bc4dd7--adorable-hamster-a344c0.netlify.app</a:t>
            </a:r>
            <a:r>
              <a:rPr lang="ru-RU" sz="1200" dirty="0" smtClean="0"/>
              <a:t>/</a:t>
            </a:r>
          </a:p>
          <a:p>
            <a:pPr marL="457200" indent="-304800">
              <a:buClr>
                <a:schemeClr val="dk1"/>
              </a:buClr>
              <a:buSzPts val="1200"/>
              <a:buFont typeface="Century Gothic"/>
              <a:buChar char="●"/>
            </a:pPr>
            <a:endParaRPr lang="ru-RU" sz="1200" dirty="0"/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ru" sz="1200" dirty="0" smtClean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Планируются  </a:t>
            </a:r>
            <a: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соцсети, реклама, </a:t>
            </a:r>
            <a:r>
              <a:rPr lang="ru" sz="1200" dirty="0" smtClean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рекомендации.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2456647" y="93785"/>
            <a:ext cx="7837500" cy="321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ru" b="1" dirty="0">
                <a:latin typeface="+mj-lt"/>
                <a:ea typeface="Verdana"/>
                <a:cs typeface="Verdana"/>
                <a:sym typeface="Verdana"/>
              </a:rPr>
              <a:t>4. Визуализация результатов (графики):</a:t>
            </a:r>
            <a:endParaRPr b="1" i="0" u="none" strike="noStrike" cap="none" dirty="0">
              <a:solidFill>
                <a:srgbClr val="000000"/>
              </a:solidFill>
              <a:latin typeface="+mj-lt"/>
              <a:ea typeface="Verdana"/>
              <a:cs typeface="Verdana"/>
              <a:sym typeface="Verdana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21" y="546388"/>
            <a:ext cx="3203335" cy="252574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431" y="546388"/>
            <a:ext cx="3425771" cy="26091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333" y="3072136"/>
            <a:ext cx="3117171" cy="20366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>
            <a:off x="2497677" y="619503"/>
            <a:ext cx="7837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8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ru" b="1" dirty="0">
                <a:latin typeface="+mj-lt"/>
                <a:ea typeface="Verdana"/>
                <a:cs typeface="Verdana"/>
                <a:sym typeface="Verdana"/>
              </a:rPr>
              <a:t>5. Выводы и рекомендации:</a:t>
            </a:r>
            <a:endParaRPr b="1" i="0" u="none" strike="noStrike" cap="none" dirty="0">
              <a:solidFill>
                <a:srgbClr val="000000"/>
              </a:solidFill>
              <a:latin typeface="+mj-lt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452000" y="1501350"/>
            <a:ext cx="6554400" cy="2037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200" i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>
              <a:lnSpc>
                <a:spcPct val="115000"/>
              </a:lnSpc>
              <a:spcBef>
                <a:spcPts val="600"/>
              </a:spcBef>
              <a:buClr>
                <a:schemeClr val="dk1"/>
              </a:buClr>
              <a:buSzPts val="1200"/>
              <a:buFont typeface="Century Gothic"/>
              <a:buAutoNum type="arabicPeriod"/>
            </a:pPr>
            <a:r>
              <a:rPr lang="ru-RU" sz="1200" dirty="0" smtClean="0"/>
              <a:t> </a:t>
            </a:r>
            <a:r>
              <a:rPr lang="ru-RU" sz="1200" dirty="0"/>
              <a:t>Время на создание резюме: вручную 60 мин → с Career.AI 15 мин (сокращение ~75%).</a:t>
            </a:r>
            <a: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/>
            </a:r>
            <a:b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>
              <a:lnSpc>
                <a:spcPct val="115000"/>
              </a:lnSpc>
              <a:buClr>
                <a:schemeClr val="dk1"/>
              </a:buClr>
              <a:buSzPts val="1200"/>
              <a:buFont typeface="Century Gothic"/>
              <a:buAutoNum type="arabicPeriod"/>
            </a:pPr>
            <a:r>
              <a:rPr lang="ru-RU" sz="1200" dirty="0"/>
              <a:t>Конверсия: если обычная — 10%, с Career.AI — 14‑15% (рост ~40‑50%).</a:t>
            </a:r>
            <a: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/>
            </a:r>
            <a:br>
              <a:rPr lang="ru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AutoNum type="arabicPeriod"/>
            </a:pPr>
            <a:r>
              <a:rPr lang="ru" sz="1200" dirty="0" smtClean="0">
                <a:solidFill>
                  <a:schemeClr val="dk1"/>
                </a:solidFill>
                <a:latin typeface="+mn-lt"/>
                <a:ea typeface="Century Gothic"/>
                <a:cs typeface="Century Gothic"/>
                <a:sym typeface="Century Gothic"/>
              </a:rPr>
              <a:t>Рекомендуется </a:t>
            </a:r>
            <a:r>
              <a:rPr lang="ru" sz="1200" dirty="0">
                <a:solidFill>
                  <a:schemeClr val="dk1"/>
                </a:solidFill>
                <a:latin typeface="+mn-lt"/>
                <a:ea typeface="Century Gothic"/>
                <a:cs typeface="Century Gothic"/>
                <a:sym typeface="Century Gothic"/>
              </a:rPr>
              <a:t>масштабировать чат-бот для других курсов и рассмотреть доп. интеграции с мессенджерами.</a:t>
            </a:r>
            <a:endParaRPr sz="1200" dirty="0">
              <a:solidFill>
                <a:schemeClr val="dk1"/>
              </a:solidFill>
              <a:latin typeface="+mn-lt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86</TotalTime>
  <Words>197</Words>
  <Application>Microsoft Office PowerPoint</Application>
  <PresentationFormat>Экран (16:9)</PresentationFormat>
  <Paragraphs>31</Paragraphs>
  <Slides>6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Wingdings 3</vt:lpstr>
      <vt:lpstr>Century Gothic</vt:lpstr>
      <vt:lpstr>Roboto</vt:lpstr>
      <vt:lpstr>Lato</vt:lpstr>
      <vt:lpstr>Verdana</vt:lpstr>
      <vt:lpstr>Сектор</vt:lpstr>
      <vt:lpstr>Презентация PowerPoint</vt:lpstr>
      <vt:lpstr>Презентация PowerPoint</vt:lpstr>
      <vt:lpstr>Похожие кейсы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8</cp:revision>
  <dcterms:modified xsi:type="dcterms:W3CDTF">2025-11-18T07:47:08Z</dcterms:modified>
</cp:coreProperties>
</file>